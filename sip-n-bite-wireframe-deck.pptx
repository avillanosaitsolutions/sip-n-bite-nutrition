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1E4310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023360"/>
            <a:ext cx="3840480" cy="3840480"/>
          </a:xfrm>
          <a:prstGeom prst="ellipse">
            <a:avLst/>
          </a:prstGeom>
          <a:solidFill>
            <a:srgbClr val="22491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A8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WIREFRAME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Sip n Bite Nutrition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feature, mapped across three roles — customer, POS operator, and admin.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1161288" cy="457200"/>
          </a:xfrm>
          <a:prstGeom prst="roundRect">
            <a:avLst>
              <a:gd name="adj" fmla="val 50000"/>
            </a:avLst>
          </a:prstGeom>
          <a:solidFill>
            <a:srgbClr val="2F7DB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526280"/>
            <a:ext cx="1161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58568" y="4526280"/>
            <a:ext cx="1581912" cy="457200"/>
          </a:xfrm>
          <a:prstGeom prst="roundRect">
            <a:avLst>
              <a:gd name="adj" fmla="val 50000"/>
            </a:avLst>
          </a:prstGeom>
          <a:solidFill>
            <a:srgbClr val="C67C1A"/>
          </a:solidFill>
          <a:ln/>
        </p:spPr>
      </p:sp>
      <p:sp>
        <p:nvSpPr>
          <p:cNvPr id="10" name="Text 8"/>
          <p:cNvSpPr/>
          <p:nvPr/>
        </p:nvSpPr>
        <p:spPr>
          <a:xfrm>
            <a:off x="2258568" y="4526280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operator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0" y="4526280"/>
            <a:ext cx="2318004" cy="457200"/>
          </a:xfrm>
          <a:prstGeom prst="roundRect">
            <a:avLst>
              <a:gd name="adj" fmla="val 50000"/>
            </a:avLst>
          </a:prstGeom>
          <a:solidFill>
            <a:srgbClr val="6A5AB8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4526280"/>
            <a:ext cx="23180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super-admin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Shakes  ·  Snacks  ·  Products  ·  Pickup &amp; delivery  ·  PayMongo  ·  SMS + email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5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app, three audiences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DE4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2024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2F7DB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20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menu and shop, build a cart, check out with pickup or delivery, pay online or at the hub, then track every order to completion.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5212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· Menu · Shop · Cart · Orders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26280" y="16002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DE4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92024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C67C1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920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operator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60604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in-store workspace for walk-in sales — tap products, take cash, make change, and print the receipt.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5212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grid · Walk-in · Cash &amp; change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12480" y="16002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DE4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32520" y="192024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6A5AB8"/>
          </a:solidFill>
          <a:ln/>
        </p:spPr>
      </p:sp>
      <p:sp>
        <p:nvSpPr>
          <p:cNvPr id="16" name="Text 14"/>
          <p:cNvSpPr/>
          <p:nvPr/>
        </p:nvSpPr>
        <p:spPr>
          <a:xfrm>
            <a:off x="8732520" y="1920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super-admin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32520" y="260604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control: dashboard, order status flow, menu and product management, stock, and role assignment.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32520" y="5212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Orders · Catalog · Users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Auth0 social login (Google · Facebook · Instagram), NestJS + Postgres, React, PayMongo checkout, and email + SMS notifications.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4114800" cy="4114800"/>
          </a:xfrm>
          <a:prstGeom prst="ellipse">
            <a:avLst/>
          </a:prstGeom>
          <a:solidFill>
            <a:srgbClr val="1E431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46888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2F7DB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0632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flow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Discover, order, and track — the shopper's whole journey.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54203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· GET IN THE DOOR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in &amp; home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4068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DDE4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103120"/>
            <a:ext cx="1234440" cy="2345436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4D0"/>
            </a:solidFill>
            <a:prstDash val="solid"/>
          </a:ln>
          <a:effectLst>
            <a:outerShdw sx="100000" sy="100000" kx="0" ky="0" algn="bl" rotWithShape="0" blurRad="76200" dist="25400" dir="5400000">
              <a:srgbClr val="AAB0A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03120"/>
            <a:ext cx="1234440" cy="175908"/>
          </a:xfrm>
          <a:prstGeom prst="roundRect">
            <a:avLst>
              <a:gd name="adj" fmla="val 41585"/>
            </a:avLst>
          </a:prstGeom>
          <a:solidFill>
            <a:srgbClr val="F2F6EA"/>
          </a:solidFill>
          <a:ln/>
        </p:spPr>
      </p:sp>
      <p:sp>
        <p:nvSpPr>
          <p:cNvPr id="7" name="Shape 5"/>
          <p:cNvSpPr/>
          <p:nvPr/>
        </p:nvSpPr>
        <p:spPr>
          <a:xfrm>
            <a:off x="982523" y="2154720"/>
            <a:ext cx="419710" cy="75054"/>
          </a:xfrm>
          <a:prstGeom prst="roundRect">
            <a:avLst>
              <a:gd name="adj" fmla="val 73099"/>
            </a:avLst>
          </a:prstGeom>
          <a:solidFill>
            <a:srgbClr val="2F7DB8"/>
          </a:solidFill>
          <a:ln/>
        </p:spPr>
      </p:sp>
      <p:sp>
        <p:nvSpPr>
          <p:cNvPr id="8" name="Shape 6"/>
          <p:cNvSpPr/>
          <p:nvPr/>
        </p:nvSpPr>
        <p:spPr>
          <a:xfrm>
            <a:off x="982523" y="2361118"/>
            <a:ext cx="678942" cy="65672"/>
          </a:xfrm>
          <a:prstGeom prst="rect">
            <a:avLst/>
          </a:prstGeom>
          <a:solidFill>
            <a:srgbClr val="2C5F1E"/>
          </a:solidFill>
          <a:ln/>
        </p:spPr>
      </p:sp>
      <p:sp>
        <p:nvSpPr>
          <p:cNvPr id="9" name="Shape 7"/>
          <p:cNvSpPr/>
          <p:nvPr/>
        </p:nvSpPr>
        <p:spPr>
          <a:xfrm>
            <a:off x="982523" y="2525298"/>
            <a:ext cx="1061618" cy="257998"/>
          </a:xfrm>
          <a:prstGeom prst="roundRect">
            <a:avLst>
              <a:gd name="adj" fmla="val 21265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4369" y="2595662"/>
            <a:ext cx="530809" cy="4690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11" name="Shape 9"/>
          <p:cNvSpPr/>
          <p:nvPr/>
        </p:nvSpPr>
        <p:spPr>
          <a:xfrm>
            <a:off x="1034369" y="2677752"/>
            <a:ext cx="297253" cy="42218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12" name="Shape 10"/>
          <p:cNvSpPr/>
          <p:nvPr/>
        </p:nvSpPr>
        <p:spPr>
          <a:xfrm>
            <a:off x="982523" y="2841932"/>
            <a:ext cx="1061618" cy="257998"/>
          </a:xfrm>
          <a:prstGeom prst="roundRect">
            <a:avLst>
              <a:gd name="adj" fmla="val 21265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4369" y="2912295"/>
            <a:ext cx="530809" cy="4690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4369" y="2994386"/>
            <a:ext cx="297253" cy="42218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15" name="Shape 13"/>
          <p:cNvSpPr/>
          <p:nvPr/>
        </p:nvSpPr>
        <p:spPr>
          <a:xfrm>
            <a:off x="982523" y="3158566"/>
            <a:ext cx="1061618" cy="257998"/>
          </a:xfrm>
          <a:prstGeom prst="roundRect">
            <a:avLst>
              <a:gd name="adj" fmla="val 21265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4369" y="3228929"/>
            <a:ext cx="530809" cy="4690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17" name="Shape 15"/>
          <p:cNvSpPr/>
          <p:nvPr/>
        </p:nvSpPr>
        <p:spPr>
          <a:xfrm>
            <a:off x="1034369" y="3311020"/>
            <a:ext cx="297253" cy="42218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18" name="Shape 16"/>
          <p:cNvSpPr/>
          <p:nvPr/>
        </p:nvSpPr>
        <p:spPr>
          <a:xfrm>
            <a:off x="896112" y="1801368"/>
            <a:ext cx="384048" cy="384048"/>
          </a:xfrm>
          <a:prstGeom prst="ellipse">
            <a:avLst/>
          </a:prstGeom>
          <a:solidFill>
            <a:srgbClr val="2F7DB8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542032" y="1984248"/>
            <a:ext cx="3282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in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542032" y="2514600"/>
            <a:ext cx="328269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Auth0 social login — Google, Facebook, Instagram</a:t>
            </a:r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account to sign in becomes super-admin</a:t>
            </a:r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 mobile number so SMS alerts can fire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55080" y="1600200"/>
            <a:ext cx="521208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DDE4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11112" y="2103120"/>
            <a:ext cx="1234440" cy="2345436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4D0"/>
            </a:solidFill>
            <a:prstDash val="solid"/>
          </a:ln>
          <a:effectLst>
            <a:outerShdw sx="100000" sy="100000" kx="0" ky="0" algn="bl" rotWithShape="0" blurRad="76200" dist="25400" dir="5400000">
              <a:srgbClr val="AAB0A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11112" y="2103120"/>
            <a:ext cx="1234440" cy="175908"/>
          </a:xfrm>
          <a:prstGeom prst="roundRect">
            <a:avLst>
              <a:gd name="adj" fmla="val 41585"/>
            </a:avLst>
          </a:prstGeom>
          <a:solidFill>
            <a:srgbClr val="F2F6EA"/>
          </a:solidFill>
          <a:ln/>
        </p:spPr>
      </p:sp>
      <p:sp>
        <p:nvSpPr>
          <p:cNvPr id="25" name="Shape 23"/>
          <p:cNvSpPr/>
          <p:nvPr/>
        </p:nvSpPr>
        <p:spPr>
          <a:xfrm>
            <a:off x="6697523" y="2154720"/>
            <a:ext cx="419710" cy="75054"/>
          </a:xfrm>
          <a:prstGeom prst="roundRect">
            <a:avLst>
              <a:gd name="adj" fmla="val 73099"/>
            </a:avLst>
          </a:prstGeom>
          <a:solidFill>
            <a:srgbClr val="2F7DB8"/>
          </a:solidFill>
          <a:ln/>
        </p:spPr>
      </p:sp>
      <p:sp>
        <p:nvSpPr>
          <p:cNvPr id="26" name="Shape 24"/>
          <p:cNvSpPr/>
          <p:nvPr/>
        </p:nvSpPr>
        <p:spPr>
          <a:xfrm>
            <a:off x="6697523" y="2361118"/>
            <a:ext cx="678942" cy="65672"/>
          </a:xfrm>
          <a:prstGeom prst="rect">
            <a:avLst/>
          </a:prstGeom>
          <a:solidFill>
            <a:srgbClr val="2C5F1E"/>
          </a:solidFill>
          <a:ln/>
        </p:spPr>
      </p:sp>
      <p:sp>
        <p:nvSpPr>
          <p:cNvPr id="27" name="Shape 25"/>
          <p:cNvSpPr/>
          <p:nvPr/>
        </p:nvSpPr>
        <p:spPr>
          <a:xfrm>
            <a:off x="6697523" y="2525298"/>
            <a:ext cx="1061618" cy="257998"/>
          </a:xfrm>
          <a:prstGeom prst="roundRect">
            <a:avLst>
              <a:gd name="adj" fmla="val 21265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49369" y="2595662"/>
            <a:ext cx="530809" cy="4690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29" name="Shape 27"/>
          <p:cNvSpPr/>
          <p:nvPr/>
        </p:nvSpPr>
        <p:spPr>
          <a:xfrm>
            <a:off x="6749369" y="2677752"/>
            <a:ext cx="297253" cy="42218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30" name="Shape 28"/>
          <p:cNvSpPr/>
          <p:nvPr/>
        </p:nvSpPr>
        <p:spPr>
          <a:xfrm>
            <a:off x="6697523" y="2841932"/>
            <a:ext cx="1061618" cy="257998"/>
          </a:xfrm>
          <a:prstGeom prst="roundRect">
            <a:avLst>
              <a:gd name="adj" fmla="val 21265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49369" y="2912295"/>
            <a:ext cx="530809" cy="4690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32" name="Shape 30"/>
          <p:cNvSpPr/>
          <p:nvPr/>
        </p:nvSpPr>
        <p:spPr>
          <a:xfrm>
            <a:off x="6749369" y="2994386"/>
            <a:ext cx="297253" cy="42218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33" name="Shape 31"/>
          <p:cNvSpPr/>
          <p:nvPr/>
        </p:nvSpPr>
        <p:spPr>
          <a:xfrm>
            <a:off x="6697523" y="4120195"/>
            <a:ext cx="1061618" cy="140726"/>
          </a:xfrm>
          <a:prstGeom prst="roundRect">
            <a:avLst>
              <a:gd name="adj" fmla="val 38986"/>
            </a:avLst>
          </a:prstGeom>
          <a:solidFill>
            <a:srgbClr val="16340A"/>
          </a:solidFill>
          <a:ln/>
        </p:spPr>
      </p:sp>
      <p:sp>
        <p:nvSpPr>
          <p:cNvPr id="34" name="Shape 32"/>
          <p:cNvSpPr/>
          <p:nvPr/>
        </p:nvSpPr>
        <p:spPr>
          <a:xfrm>
            <a:off x="6802793" y="4319557"/>
            <a:ext cx="54864" cy="54864"/>
          </a:xfrm>
          <a:prstGeom prst="ellipse">
            <a:avLst/>
          </a:prstGeom>
          <a:solidFill>
            <a:srgbClr val="5A8F2B"/>
          </a:solidFill>
          <a:ln/>
        </p:spPr>
      </p:sp>
      <p:sp>
        <p:nvSpPr>
          <p:cNvPr id="35" name="Shape 33"/>
          <p:cNvSpPr/>
          <p:nvPr/>
        </p:nvSpPr>
        <p:spPr>
          <a:xfrm>
            <a:off x="7068198" y="4319557"/>
            <a:ext cx="54864" cy="54864"/>
          </a:xfrm>
          <a:prstGeom prst="ellipse">
            <a:avLst/>
          </a:prstGeom>
          <a:solidFill>
            <a:srgbClr val="C9D3BC"/>
          </a:solidFill>
          <a:ln/>
        </p:spPr>
      </p:sp>
      <p:sp>
        <p:nvSpPr>
          <p:cNvPr id="36" name="Shape 34"/>
          <p:cNvSpPr/>
          <p:nvPr/>
        </p:nvSpPr>
        <p:spPr>
          <a:xfrm>
            <a:off x="7333602" y="4319557"/>
            <a:ext cx="54864" cy="54864"/>
          </a:xfrm>
          <a:prstGeom prst="ellipse">
            <a:avLst/>
          </a:prstGeom>
          <a:solidFill>
            <a:srgbClr val="C9D3BC"/>
          </a:solidFill>
          <a:ln/>
        </p:spPr>
      </p:sp>
      <p:sp>
        <p:nvSpPr>
          <p:cNvPr id="37" name="Shape 35"/>
          <p:cNvSpPr/>
          <p:nvPr/>
        </p:nvSpPr>
        <p:spPr>
          <a:xfrm>
            <a:off x="7599007" y="4319557"/>
            <a:ext cx="54864" cy="54864"/>
          </a:xfrm>
          <a:prstGeom prst="ellipse">
            <a:avLst/>
          </a:prstGeom>
          <a:solidFill>
            <a:srgbClr val="C9D3BC"/>
          </a:solidFill>
          <a:ln/>
        </p:spPr>
      </p:sp>
      <p:sp>
        <p:nvSpPr>
          <p:cNvPr id="38" name="Shape 36"/>
          <p:cNvSpPr/>
          <p:nvPr/>
        </p:nvSpPr>
        <p:spPr>
          <a:xfrm>
            <a:off x="6611112" y="1801368"/>
            <a:ext cx="384048" cy="384048"/>
          </a:xfrm>
          <a:prstGeom prst="ellipse">
            <a:avLst/>
          </a:prstGeom>
          <a:solidFill>
            <a:srgbClr val="2F7DB8"/>
          </a:solidFill>
          <a:ln/>
        </p:spPr>
      </p:sp>
      <p:sp>
        <p:nvSpPr>
          <p:cNvPr id="39" name="Text 37"/>
          <p:cNvSpPr/>
          <p:nvPr/>
        </p:nvSpPr>
        <p:spPr>
          <a:xfrm>
            <a:off x="6611112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257032" y="1984248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8257032" y="2514600"/>
            <a:ext cx="305409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banner with quick jumps to Menu and Shop</a:t>
            </a:r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shakes with calorie badges</a:t>
            </a:r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bottom tab bar and cart access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· BROWSE THE CATALOG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 &amp; shop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4068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DDE4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103120"/>
            <a:ext cx="1234440" cy="2345436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4D0"/>
            </a:solidFill>
            <a:prstDash val="solid"/>
          </a:ln>
          <a:effectLst>
            <a:outerShdw sx="100000" sy="100000" kx="0" ky="0" algn="bl" rotWithShape="0" blurRad="76200" dist="25400" dir="5400000">
              <a:srgbClr val="AAB0A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03120"/>
            <a:ext cx="1234440" cy="175908"/>
          </a:xfrm>
          <a:prstGeom prst="roundRect">
            <a:avLst>
              <a:gd name="adj" fmla="val 41585"/>
            </a:avLst>
          </a:prstGeom>
          <a:solidFill>
            <a:srgbClr val="F2F6EA"/>
          </a:solidFill>
          <a:ln/>
        </p:spPr>
      </p:sp>
      <p:sp>
        <p:nvSpPr>
          <p:cNvPr id="7" name="Shape 5"/>
          <p:cNvSpPr/>
          <p:nvPr/>
        </p:nvSpPr>
        <p:spPr>
          <a:xfrm>
            <a:off x="982523" y="2154720"/>
            <a:ext cx="419710" cy="75054"/>
          </a:xfrm>
          <a:prstGeom prst="roundRect">
            <a:avLst>
              <a:gd name="adj" fmla="val 73099"/>
            </a:avLst>
          </a:prstGeom>
          <a:solidFill>
            <a:srgbClr val="2F7DB8"/>
          </a:solidFill>
          <a:ln/>
        </p:spPr>
      </p:sp>
      <p:sp>
        <p:nvSpPr>
          <p:cNvPr id="8" name="Shape 6"/>
          <p:cNvSpPr/>
          <p:nvPr/>
        </p:nvSpPr>
        <p:spPr>
          <a:xfrm>
            <a:off x="982523" y="2361118"/>
            <a:ext cx="678942" cy="65672"/>
          </a:xfrm>
          <a:prstGeom prst="rect">
            <a:avLst/>
          </a:prstGeom>
          <a:solidFill>
            <a:srgbClr val="2C5F1E"/>
          </a:solidFill>
          <a:ln/>
        </p:spPr>
      </p:sp>
      <p:sp>
        <p:nvSpPr>
          <p:cNvPr id="9" name="Shape 7"/>
          <p:cNvSpPr/>
          <p:nvPr/>
        </p:nvSpPr>
        <p:spPr>
          <a:xfrm>
            <a:off x="982523" y="2525298"/>
            <a:ext cx="1061618" cy="257998"/>
          </a:xfrm>
          <a:prstGeom prst="roundRect">
            <a:avLst>
              <a:gd name="adj" fmla="val 21265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4369" y="2595662"/>
            <a:ext cx="530809" cy="4690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11" name="Shape 9"/>
          <p:cNvSpPr/>
          <p:nvPr/>
        </p:nvSpPr>
        <p:spPr>
          <a:xfrm>
            <a:off x="1034369" y="2677752"/>
            <a:ext cx="297253" cy="42218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12" name="Shape 10"/>
          <p:cNvSpPr/>
          <p:nvPr/>
        </p:nvSpPr>
        <p:spPr>
          <a:xfrm>
            <a:off x="982523" y="2841932"/>
            <a:ext cx="1061618" cy="257998"/>
          </a:xfrm>
          <a:prstGeom prst="roundRect">
            <a:avLst>
              <a:gd name="adj" fmla="val 21265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4369" y="2912295"/>
            <a:ext cx="530809" cy="4690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4369" y="2994386"/>
            <a:ext cx="297253" cy="42218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15" name="Shape 13"/>
          <p:cNvSpPr/>
          <p:nvPr/>
        </p:nvSpPr>
        <p:spPr>
          <a:xfrm>
            <a:off x="982523" y="3158566"/>
            <a:ext cx="1061618" cy="257998"/>
          </a:xfrm>
          <a:prstGeom prst="roundRect">
            <a:avLst>
              <a:gd name="adj" fmla="val 21265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4369" y="3228929"/>
            <a:ext cx="530809" cy="4690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17" name="Shape 15"/>
          <p:cNvSpPr/>
          <p:nvPr/>
        </p:nvSpPr>
        <p:spPr>
          <a:xfrm>
            <a:off x="1034369" y="3311020"/>
            <a:ext cx="297253" cy="42218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18" name="Shape 16"/>
          <p:cNvSpPr/>
          <p:nvPr/>
        </p:nvSpPr>
        <p:spPr>
          <a:xfrm>
            <a:off x="982523" y="4120195"/>
            <a:ext cx="1061618" cy="140726"/>
          </a:xfrm>
          <a:prstGeom prst="roundRect">
            <a:avLst>
              <a:gd name="adj" fmla="val 38986"/>
            </a:avLst>
          </a:prstGeom>
          <a:solidFill>
            <a:srgbClr val="16340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7793" y="4319557"/>
            <a:ext cx="54864" cy="54864"/>
          </a:xfrm>
          <a:prstGeom prst="ellipse">
            <a:avLst/>
          </a:prstGeom>
          <a:solidFill>
            <a:srgbClr val="C9D3BC"/>
          </a:solidFill>
          <a:ln/>
        </p:spPr>
      </p:sp>
      <p:sp>
        <p:nvSpPr>
          <p:cNvPr id="20" name="Shape 18"/>
          <p:cNvSpPr/>
          <p:nvPr/>
        </p:nvSpPr>
        <p:spPr>
          <a:xfrm>
            <a:off x="1353198" y="4319557"/>
            <a:ext cx="54864" cy="54864"/>
          </a:xfrm>
          <a:prstGeom prst="ellipse">
            <a:avLst/>
          </a:prstGeom>
          <a:solidFill>
            <a:srgbClr val="5A8F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618602" y="4319557"/>
            <a:ext cx="54864" cy="54864"/>
          </a:xfrm>
          <a:prstGeom prst="ellipse">
            <a:avLst/>
          </a:prstGeom>
          <a:solidFill>
            <a:srgbClr val="C9D3BC"/>
          </a:solidFill>
          <a:ln/>
        </p:spPr>
      </p:sp>
      <p:sp>
        <p:nvSpPr>
          <p:cNvPr id="22" name="Shape 20"/>
          <p:cNvSpPr/>
          <p:nvPr/>
        </p:nvSpPr>
        <p:spPr>
          <a:xfrm>
            <a:off x="1884007" y="4319557"/>
            <a:ext cx="54864" cy="54864"/>
          </a:xfrm>
          <a:prstGeom prst="ellipse">
            <a:avLst/>
          </a:prstGeom>
          <a:solidFill>
            <a:srgbClr val="C9D3BC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" y="1801368"/>
            <a:ext cx="384048" cy="384048"/>
          </a:xfrm>
          <a:prstGeom prst="ellipse">
            <a:avLst/>
          </a:prstGeom>
          <a:solidFill>
            <a:srgbClr val="2F7DB8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542032" y="1984248"/>
            <a:ext cx="3282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2542032" y="2514600"/>
            <a:ext cx="328269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Shakes and snacks, split by category tabs</a:t>
            </a:r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Calories, benefit tags, price, availability</a:t>
            </a:r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Sold-out items clearly marked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55080" y="1600200"/>
            <a:ext cx="521208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DDE4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11112" y="2103120"/>
            <a:ext cx="1234440" cy="2345436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4D0"/>
            </a:solidFill>
            <a:prstDash val="solid"/>
          </a:ln>
          <a:effectLst>
            <a:outerShdw sx="100000" sy="100000" kx="0" ky="0" algn="bl" rotWithShape="0" blurRad="76200" dist="25400" dir="5400000">
              <a:srgbClr val="AAB0A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11112" y="2103120"/>
            <a:ext cx="1234440" cy="175908"/>
          </a:xfrm>
          <a:prstGeom prst="roundRect">
            <a:avLst>
              <a:gd name="adj" fmla="val 41585"/>
            </a:avLst>
          </a:prstGeom>
          <a:solidFill>
            <a:srgbClr val="F2F6EA"/>
          </a:solidFill>
          <a:ln/>
        </p:spPr>
      </p:sp>
      <p:sp>
        <p:nvSpPr>
          <p:cNvPr id="30" name="Shape 28"/>
          <p:cNvSpPr/>
          <p:nvPr/>
        </p:nvSpPr>
        <p:spPr>
          <a:xfrm>
            <a:off x="6697523" y="2154720"/>
            <a:ext cx="419710" cy="75054"/>
          </a:xfrm>
          <a:prstGeom prst="roundRect">
            <a:avLst>
              <a:gd name="adj" fmla="val 73099"/>
            </a:avLst>
          </a:prstGeom>
          <a:solidFill>
            <a:srgbClr val="2F7DB8"/>
          </a:solidFill>
          <a:ln/>
        </p:spPr>
      </p:sp>
      <p:sp>
        <p:nvSpPr>
          <p:cNvPr id="31" name="Shape 29"/>
          <p:cNvSpPr/>
          <p:nvPr/>
        </p:nvSpPr>
        <p:spPr>
          <a:xfrm>
            <a:off x="6697523" y="2361118"/>
            <a:ext cx="678942" cy="65672"/>
          </a:xfrm>
          <a:prstGeom prst="rect">
            <a:avLst/>
          </a:prstGeom>
          <a:solidFill>
            <a:srgbClr val="2C5F1E"/>
          </a:solidFill>
          <a:ln/>
        </p:spPr>
      </p:sp>
      <p:sp>
        <p:nvSpPr>
          <p:cNvPr id="32" name="Shape 30"/>
          <p:cNvSpPr/>
          <p:nvPr/>
        </p:nvSpPr>
        <p:spPr>
          <a:xfrm>
            <a:off x="6697523" y="2525298"/>
            <a:ext cx="1061618" cy="257998"/>
          </a:xfrm>
          <a:prstGeom prst="roundRect">
            <a:avLst>
              <a:gd name="adj" fmla="val 21265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49369" y="2595662"/>
            <a:ext cx="530809" cy="4690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34" name="Shape 32"/>
          <p:cNvSpPr/>
          <p:nvPr/>
        </p:nvSpPr>
        <p:spPr>
          <a:xfrm>
            <a:off x="6749369" y="2677752"/>
            <a:ext cx="297253" cy="42218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35" name="Shape 33"/>
          <p:cNvSpPr/>
          <p:nvPr/>
        </p:nvSpPr>
        <p:spPr>
          <a:xfrm>
            <a:off x="6697523" y="2841932"/>
            <a:ext cx="1061618" cy="257998"/>
          </a:xfrm>
          <a:prstGeom prst="roundRect">
            <a:avLst>
              <a:gd name="adj" fmla="val 21265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49369" y="2912295"/>
            <a:ext cx="530809" cy="4690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37" name="Shape 35"/>
          <p:cNvSpPr/>
          <p:nvPr/>
        </p:nvSpPr>
        <p:spPr>
          <a:xfrm>
            <a:off x="6749369" y="2994386"/>
            <a:ext cx="297253" cy="42218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38" name="Shape 36"/>
          <p:cNvSpPr/>
          <p:nvPr/>
        </p:nvSpPr>
        <p:spPr>
          <a:xfrm>
            <a:off x="6697523" y="3158566"/>
            <a:ext cx="1061618" cy="257998"/>
          </a:xfrm>
          <a:prstGeom prst="roundRect">
            <a:avLst>
              <a:gd name="adj" fmla="val 21265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49369" y="3228929"/>
            <a:ext cx="530809" cy="4690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40" name="Shape 38"/>
          <p:cNvSpPr/>
          <p:nvPr/>
        </p:nvSpPr>
        <p:spPr>
          <a:xfrm>
            <a:off x="6749369" y="3311020"/>
            <a:ext cx="297253" cy="42218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41" name="Shape 39"/>
          <p:cNvSpPr/>
          <p:nvPr/>
        </p:nvSpPr>
        <p:spPr>
          <a:xfrm>
            <a:off x="6697523" y="4120195"/>
            <a:ext cx="1061618" cy="140726"/>
          </a:xfrm>
          <a:prstGeom prst="roundRect">
            <a:avLst>
              <a:gd name="adj" fmla="val 38986"/>
            </a:avLst>
          </a:prstGeom>
          <a:solidFill>
            <a:srgbClr val="16340A"/>
          </a:solidFill>
          <a:ln/>
        </p:spPr>
      </p:sp>
      <p:sp>
        <p:nvSpPr>
          <p:cNvPr id="42" name="Shape 40"/>
          <p:cNvSpPr/>
          <p:nvPr/>
        </p:nvSpPr>
        <p:spPr>
          <a:xfrm>
            <a:off x="6802793" y="4319557"/>
            <a:ext cx="54864" cy="54864"/>
          </a:xfrm>
          <a:prstGeom prst="ellipse">
            <a:avLst/>
          </a:prstGeom>
          <a:solidFill>
            <a:srgbClr val="C9D3BC"/>
          </a:solidFill>
          <a:ln/>
        </p:spPr>
      </p:sp>
      <p:sp>
        <p:nvSpPr>
          <p:cNvPr id="43" name="Shape 41"/>
          <p:cNvSpPr/>
          <p:nvPr/>
        </p:nvSpPr>
        <p:spPr>
          <a:xfrm>
            <a:off x="7068198" y="4319557"/>
            <a:ext cx="54864" cy="54864"/>
          </a:xfrm>
          <a:prstGeom prst="ellipse">
            <a:avLst/>
          </a:prstGeom>
          <a:solidFill>
            <a:srgbClr val="C9D3BC"/>
          </a:solidFill>
          <a:ln/>
        </p:spPr>
      </p:sp>
      <p:sp>
        <p:nvSpPr>
          <p:cNvPr id="44" name="Shape 42"/>
          <p:cNvSpPr/>
          <p:nvPr/>
        </p:nvSpPr>
        <p:spPr>
          <a:xfrm>
            <a:off x="7333602" y="4319557"/>
            <a:ext cx="54864" cy="54864"/>
          </a:xfrm>
          <a:prstGeom prst="ellipse">
            <a:avLst/>
          </a:prstGeom>
          <a:solidFill>
            <a:srgbClr val="5A8F2B"/>
          </a:solidFill>
          <a:ln/>
        </p:spPr>
      </p:sp>
      <p:sp>
        <p:nvSpPr>
          <p:cNvPr id="45" name="Shape 43"/>
          <p:cNvSpPr/>
          <p:nvPr/>
        </p:nvSpPr>
        <p:spPr>
          <a:xfrm>
            <a:off x="7599007" y="4319557"/>
            <a:ext cx="54864" cy="54864"/>
          </a:xfrm>
          <a:prstGeom prst="ellipse">
            <a:avLst/>
          </a:prstGeom>
          <a:solidFill>
            <a:srgbClr val="C9D3BC"/>
          </a:solidFill>
          <a:ln/>
        </p:spPr>
      </p:sp>
      <p:sp>
        <p:nvSpPr>
          <p:cNvPr id="46" name="Shape 44"/>
          <p:cNvSpPr/>
          <p:nvPr/>
        </p:nvSpPr>
        <p:spPr>
          <a:xfrm>
            <a:off x="6611112" y="1801368"/>
            <a:ext cx="384048" cy="384048"/>
          </a:xfrm>
          <a:prstGeom prst="ellipse">
            <a:avLst/>
          </a:prstGeom>
          <a:solidFill>
            <a:srgbClr val="2F7DB8"/>
          </a:solidFill>
          <a:ln/>
        </p:spPr>
      </p:sp>
      <p:sp>
        <p:nvSpPr>
          <p:cNvPr id="47" name="Text 45"/>
          <p:cNvSpPr/>
          <p:nvPr/>
        </p:nvSpPr>
        <p:spPr>
          <a:xfrm>
            <a:off x="6611112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257032" y="1984248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8257032" y="2514600"/>
            <a:ext cx="305409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products with live stock counts</a:t>
            </a:r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 and fulfillment badges (pickup / delivery)</a:t>
            </a:r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 in one tap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5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· THE MONEY MOMENT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 &amp; checkout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920240" cy="3648456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4D0"/>
            </a:solidFill>
            <a:prstDash val="solid"/>
          </a:ln>
          <a:effectLst>
            <a:outerShdw sx="100000" sy="100000" kx="0" ky="0" algn="bl" rotWithShape="0" blurRad="76200" dist="25400" dir="5400000">
              <a:srgbClr val="AAB0A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1920240" cy="273634"/>
          </a:xfrm>
          <a:prstGeom prst="roundRect">
            <a:avLst>
              <a:gd name="adj" fmla="val 26734"/>
            </a:avLst>
          </a:prstGeom>
          <a:solidFill>
            <a:srgbClr val="F2F6EA"/>
          </a:solidFill>
          <a:ln/>
        </p:spPr>
      </p:sp>
      <p:sp>
        <p:nvSpPr>
          <p:cNvPr id="6" name="Shape 4"/>
          <p:cNvSpPr/>
          <p:nvPr/>
        </p:nvSpPr>
        <p:spPr>
          <a:xfrm>
            <a:off x="957377" y="1771906"/>
            <a:ext cx="652882" cy="116751"/>
          </a:xfrm>
          <a:prstGeom prst="roundRect">
            <a:avLst>
              <a:gd name="adj" fmla="val 46992"/>
            </a:avLst>
          </a:prstGeom>
          <a:solidFill>
            <a:srgbClr val="2F7DB8"/>
          </a:solidFill>
          <a:ln/>
        </p:spPr>
      </p:sp>
      <p:sp>
        <p:nvSpPr>
          <p:cNvPr id="7" name="Shape 5"/>
          <p:cNvSpPr/>
          <p:nvPr/>
        </p:nvSpPr>
        <p:spPr>
          <a:xfrm>
            <a:off x="957377" y="2092970"/>
            <a:ext cx="1056132" cy="102157"/>
          </a:xfrm>
          <a:prstGeom prst="rect">
            <a:avLst/>
          </a:prstGeom>
          <a:solidFill>
            <a:srgbClr val="2C5F1E"/>
          </a:solidFill>
          <a:ln/>
        </p:spPr>
      </p:sp>
      <p:sp>
        <p:nvSpPr>
          <p:cNvPr id="8" name="Shape 6"/>
          <p:cNvSpPr/>
          <p:nvPr/>
        </p:nvSpPr>
        <p:spPr>
          <a:xfrm>
            <a:off x="957377" y="2348362"/>
            <a:ext cx="1651406" cy="401330"/>
          </a:xfrm>
          <a:prstGeom prst="roundRect">
            <a:avLst>
              <a:gd name="adj" fmla="val 13671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8027" y="2457816"/>
            <a:ext cx="825703" cy="7296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10" name="Shape 8"/>
          <p:cNvSpPr/>
          <p:nvPr/>
        </p:nvSpPr>
        <p:spPr>
          <a:xfrm>
            <a:off x="1038027" y="2585512"/>
            <a:ext cx="462394" cy="65672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11" name="Shape 9"/>
          <p:cNvSpPr/>
          <p:nvPr/>
        </p:nvSpPr>
        <p:spPr>
          <a:xfrm>
            <a:off x="957377" y="2840904"/>
            <a:ext cx="1651406" cy="401330"/>
          </a:xfrm>
          <a:prstGeom prst="roundRect">
            <a:avLst>
              <a:gd name="adj" fmla="val 13671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8027" y="2950357"/>
            <a:ext cx="825703" cy="7296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38027" y="3078053"/>
            <a:ext cx="462394" cy="65672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14" name="Shape 12"/>
          <p:cNvSpPr/>
          <p:nvPr/>
        </p:nvSpPr>
        <p:spPr>
          <a:xfrm>
            <a:off x="957377" y="4829312"/>
            <a:ext cx="1651406" cy="218907"/>
          </a:xfrm>
          <a:prstGeom prst="roundRect">
            <a:avLst>
              <a:gd name="adj" fmla="val 25063"/>
            </a:avLst>
          </a:prstGeom>
          <a:solidFill>
            <a:srgbClr val="16340A"/>
          </a:solidFill>
          <a:ln/>
        </p:spPr>
      </p:sp>
      <p:sp>
        <p:nvSpPr>
          <p:cNvPr id="15" name="Shape 13"/>
          <p:cNvSpPr/>
          <p:nvPr/>
        </p:nvSpPr>
        <p:spPr>
          <a:xfrm>
            <a:off x="3383280" y="1691640"/>
            <a:ext cx="813816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DE4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1965960"/>
            <a:ext cx="384048" cy="384048"/>
          </a:xfrm>
          <a:prstGeom prst="ellipse">
            <a:avLst/>
          </a:prstGeom>
          <a:solidFill>
            <a:srgbClr val="5A8F2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06240" y="1929384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Fulfillment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06240" y="224028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pickup or delivery; a delivery address field appears when needed.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0" y="2898648"/>
            <a:ext cx="384048" cy="384048"/>
          </a:xfrm>
          <a:prstGeom prst="ellipse">
            <a:avLst/>
          </a:prstGeom>
          <a:solidFill>
            <a:srgbClr val="5A8F2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2898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06240" y="2862072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06240" y="3172968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online via PayMongo checkout, or settle at the hub.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0" y="3831336"/>
            <a:ext cx="384048" cy="384048"/>
          </a:xfrm>
          <a:prstGeom prst="ellipse">
            <a:avLst/>
          </a:prstGeom>
          <a:solidFill>
            <a:srgbClr val="5A8F2B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0" y="3831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206240" y="379476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 &amp; totals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206240" y="4105656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order notes, itemized lines, and a running total.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0" y="4764024"/>
            <a:ext cx="384048" cy="384048"/>
          </a:xfrm>
          <a:prstGeom prst="ellipse">
            <a:avLst/>
          </a:prstGeom>
          <a:solidFill>
            <a:srgbClr val="D8582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0" y="4764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206240" y="4727448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 order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206240" y="5038344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order and hands off to the PayMongo checkout session.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· AFTER CHECKOUT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history &amp; live tracking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4068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DDE4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103120"/>
            <a:ext cx="1234440" cy="2345436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4D0"/>
            </a:solidFill>
            <a:prstDash val="solid"/>
          </a:ln>
          <a:effectLst>
            <a:outerShdw sx="100000" sy="100000" kx="0" ky="0" algn="bl" rotWithShape="0" blurRad="76200" dist="25400" dir="5400000">
              <a:srgbClr val="AAB0A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03120"/>
            <a:ext cx="1234440" cy="175908"/>
          </a:xfrm>
          <a:prstGeom prst="roundRect">
            <a:avLst>
              <a:gd name="adj" fmla="val 41585"/>
            </a:avLst>
          </a:prstGeom>
          <a:solidFill>
            <a:srgbClr val="F2F6EA"/>
          </a:solidFill>
          <a:ln/>
        </p:spPr>
      </p:sp>
      <p:sp>
        <p:nvSpPr>
          <p:cNvPr id="7" name="Shape 5"/>
          <p:cNvSpPr/>
          <p:nvPr/>
        </p:nvSpPr>
        <p:spPr>
          <a:xfrm>
            <a:off x="982523" y="2154720"/>
            <a:ext cx="419710" cy="75054"/>
          </a:xfrm>
          <a:prstGeom prst="roundRect">
            <a:avLst>
              <a:gd name="adj" fmla="val 73099"/>
            </a:avLst>
          </a:prstGeom>
          <a:solidFill>
            <a:srgbClr val="2F7DB8"/>
          </a:solidFill>
          <a:ln/>
        </p:spPr>
      </p:sp>
      <p:sp>
        <p:nvSpPr>
          <p:cNvPr id="8" name="Shape 6"/>
          <p:cNvSpPr/>
          <p:nvPr/>
        </p:nvSpPr>
        <p:spPr>
          <a:xfrm>
            <a:off x="982523" y="2361118"/>
            <a:ext cx="678942" cy="65672"/>
          </a:xfrm>
          <a:prstGeom prst="rect">
            <a:avLst/>
          </a:prstGeom>
          <a:solidFill>
            <a:srgbClr val="2C5F1E"/>
          </a:solidFill>
          <a:ln/>
        </p:spPr>
      </p:sp>
      <p:sp>
        <p:nvSpPr>
          <p:cNvPr id="9" name="Shape 7"/>
          <p:cNvSpPr/>
          <p:nvPr/>
        </p:nvSpPr>
        <p:spPr>
          <a:xfrm>
            <a:off x="982523" y="2525298"/>
            <a:ext cx="1061618" cy="257998"/>
          </a:xfrm>
          <a:prstGeom prst="roundRect">
            <a:avLst>
              <a:gd name="adj" fmla="val 21265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4369" y="2595662"/>
            <a:ext cx="530809" cy="4690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11" name="Shape 9"/>
          <p:cNvSpPr/>
          <p:nvPr/>
        </p:nvSpPr>
        <p:spPr>
          <a:xfrm>
            <a:off x="1034369" y="2677752"/>
            <a:ext cx="297253" cy="42218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12" name="Shape 10"/>
          <p:cNvSpPr/>
          <p:nvPr/>
        </p:nvSpPr>
        <p:spPr>
          <a:xfrm>
            <a:off x="982523" y="2841932"/>
            <a:ext cx="1061618" cy="257998"/>
          </a:xfrm>
          <a:prstGeom prst="roundRect">
            <a:avLst>
              <a:gd name="adj" fmla="val 21265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4369" y="2912295"/>
            <a:ext cx="530809" cy="4690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4369" y="2994386"/>
            <a:ext cx="297253" cy="42218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15" name="Shape 13"/>
          <p:cNvSpPr/>
          <p:nvPr/>
        </p:nvSpPr>
        <p:spPr>
          <a:xfrm>
            <a:off x="982523" y="3158566"/>
            <a:ext cx="1061618" cy="257998"/>
          </a:xfrm>
          <a:prstGeom prst="roundRect">
            <a:avLst>
              <a:gd name="adj" fmla="val 21265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4369" y="3228929"/>
            <a:ext cx="530809" cy="4690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17" name="Shape 15"/>
          <p:cNvSpPr/>
          <p:nvPr/>
        </p:nvSpPr>
        <p:spPr>
          <a:xfrm>
            <a:off x="1034369" y="3311020"/>
            <a:ext cx="297253" cy="42218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18" name="Shape 16"/>
          <p:cNvSpPr/>
          <p:nvPr/>
        </p:nvSpPr>
        <p:spPr>
          <a:xfrm>
            <a:off x="982523" y="4120195"/>
            <a:ext cx="1061618" cy="140726"/>
          </a:xfrm>
          <a:prstGeom prst="roundRect">
            <a:avLst>
              <a:gd name="adj" fmla="val 38986"/>
            </a:avLst>
          </a:prstGeom>
          <a:solidFill>
            <a:srgbClr val="16340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7793" y="4319557"/>
            <a:ext cx="54864" cy="54864"/>
          </a:xfrm>
          <a:prstGeom prst="ellipse">
            <a:avLst/>
          </a:prstGeom>
          <a:solidFill>
            <a:srgbClr val="C9D3BC"/>
          </a:solidFill>
          <a:ln/>
        </p:spPr>
      </p:sp>
      <p:sp>
        <p:nvSpPr>
          <p:cNvPr id="20" name="Shape 18"/>
          <p:cNvSpPr/>
          <p:nvPr/>
        </p:nvSpPr>
        <p:spPr>
          <a:xfrm>
            <a:off x="1353198" y="4319557"/>
            <a:ext cx="54864" cy="54864"/>
          </a:xfrm>
          <a:prstGeom prst="ellipse">
            <a:avLst/>
          </a:prstGeom>
          <a:solidFill>
            <a:srgbClr val="C9D3BC"/>
          </a:solidFill>
          <a:ln/>
        </p:spPr>
      </p:sp>
      <p:sp>
        <p:nvSpPr>
          <p:cNvPr id="21" name="Shape 19"/>
          <p:cNvSpPr/>
          <p:nvPr/>
        </p:nvSpPr>
        <p:spPr>
          <a:xfrm>
            <a:off x="1618602" y="4319557"/>
            <a:ext cx="54864" cy="54864"/>
          </a:xfrm>
          <a:prstGeom prst="ellipse">
            <a:avLst/>
          </a:prstGeom>
          <a:solidFill>
            <a:srgbClr val="C9D3BC"/>
          </a:solidFill>
          <a:ln/>
        </p:spPr>
      </p:sp>
      <p:sp>
        <p:nvSpPr>
          <p:cNvPr id="22" name="Shape 20"/>
          <p:cNvSpPr/>
          <p:nvPr/>
        </p:nvSpPr>
        <p:spPr>
          <a:xfrm>
            <a:off x="1884007" y="4319557"/>
            <a:ext cx="54864" cy="54864"/>
          </a:xfrm>
          <a:prstGeom prst="ellipse">
            <a:avLst/>
          </a:prstGeom>
          <a:solidFill>
            <a:srgbClr val="5A8F2B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" y="1801368"/>
            <a:ext cx="384048" cy="384048"/>
          </a:xfrm>
          <a:prstGeom prst="ellipse">
            <a:avLst/>
          </a:prstGeom>
          <a:solidFill>
            <a:srgbClr val="2F7DB8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542032" y="1984248"/>
            <a:ext cx="3282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orders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2542032" y="2514600"/>
            <a:ext cx="328269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order history with status at a glance</a:t>
            </a:r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counts, totals, and fulfillment type</a:t>
            </a:r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through to any order's detail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55080" y="1600200"/>
            <a:ext cx="521208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DDE4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11112" y="2103120"/>
            <a:ext cx="1234440" cy="2345436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4D0"/>
            </a:solidFill>
            <a:prstDash val="solid"/>
          </a:ln>
          <a:effectLst>
            <a:outerShdw sx="100000" sy="100000" kx="0" ky="0" algn="bl" rotWithShape="0" blurRad="76200" dist="25400" dir="5400000">
              <a:srgbClr val="AAB0A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11112" y="2103120"/>
            <a:ext cx="1234440" cy="175908"/>
          </a:xfrm>
          <a:prstGeom prst="roundRect">
            <a:avLst>
              <a:gd name="adj" fmla="val 41585"/>
            </a:avLst>
          </a:prstGeom>
          <a:solidFill>
            <a:srgbClr val="F2F6EA"/>
          </a:solidFill>
          <a:ln/>
        </p:spPr>
      </p:sp>
      <p:sp>
        <p:nvSpPr>
          <p:cNvPr id="30" name="Shape 28"/>
          <p:cNvSpPr/>
          <p:nvPr/>
        </p:nvSpPr>
        <p:spPr>
          <a:xfrm>
            <a:off x="6697523" y="2154720"/>
            <a:ext cx="419710" cy="75054"/>
          </a:xfrm>
          <a:prstGeom prst="roundRect">
            <a:avLst>
              <a:gd name="adj" fmla="val 73099"/>
            </a:avLst>
          </a:prstGeom>
          <a:solidFill>
            <a:srgbClr val="2F7DB8"/>
          </a:solidFill>
          <a:ln/>
        </p:spPr>
      </p:sp>
      <p:sp>
        <p:nvSpPr>
          <p:cNvPr id="31" name="Shape 29"/>
          <p:cNvSpPr/>
          <p:nvPr/>
        </p:nvSpPr>
        <p:spPr>
          <a:xfrm>
            <a:off x="6697523" y="2361118"/>
            <a:ext cx="678942" cy="65672"/>
          </a:xfrm>
          <a:prstGeom prst="rect">
            <a:avLst/>
          </a:prstGeom>
          <a:solidFill>
            <a:srgbClr val="2C5F1E"/>
          </a:solidFill>
          <a:ln/>
        </p:spPr>
      </p:sp>
      <p:sp>
        <p:nvSpPr>
          <p:cNvPr id="32" name="Shape 30"/>
          <p:cNvSpPr/>
          <p:nvPr/>
        </p:nvSpPr>
        <p:spPr>
          <a:xfrm>
            <a:off x="6697523" y="2525298"/>
            <a:ext cx="1061618" cy="257998"/>
          </a:xfrm>
          <a:prstGeom prst="roundRect">
            <a:avLst>
              <a:gd name="adj" fmla="val 21265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49369" y="2595662"/>
            <a:ext cx="530809" cy="4690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34" name="Shape 32"/>
          <p:cNvSpPr/>
          <p:nvPr/>
        </p:nvSpPr>
        <p:spPr>
          <a:xfrm>
            <a:off x="6749369" y="2677752"/>
            <a:ext cx="297253" cy="42218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35" name="Shape 33"/>
          <p:cNvSpPr/>
          <p:nvPr/>
        </p:nvSpPr>
        <p:spPr>
          <a:xfrm>
            <a:off x="6697523" y="2841932"/>
            <a:ext cx="1061618" cy="257998"/>
          </a:xfrm>
          <a:prstGeom prst="roundRect">
            <a:avLst>
              <a:gd name="adj" fmla="val 21265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49369" y="2912295"/>
            <a:ext cx="530809" cy="4690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37" name="Shape 35"/>
          <p:cNvSpPr/>
          <p:nvPr/>
        </p:nvSpPr>
        <p:spPr>
          <a:xfrm>
            <a:off x="6749369" y="2994386"/>
            <a:ext cx="297253" cy="42218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38" name="Shape 36"/>
          <p:cNvSpPr/>
          <p:nvPr/>
        </p:nvSpPr>
        <p:spPr>
          <a:xfrm>
            <a:off x="6611112" y="1801368"/>
            <a:ext cx="384048" cy="384048"/>
          </a:xfrm>
          <a:prstGeom prst="ellipse">
            <a:avLst/>
          </a:prstGeom>
          <a:solidFill>
            <a:srgbClr val="2F7DB8"/>
          </a:solidFill>
          <a:ln/>
        </p:spPr>
      </p:sp>
      <p:sp>
        <p:nvSpPr>
          <p:cNvPr id="39" name="Text 37"/>
          <p:cNvSpPr/>
          <p:nvPr/>
        </p:nvSpPr>
        <p:spPr>
          <a:xfrm>
            <a:off x="6611112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257032" y="1984248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tracking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8257032" y="2514600"/>
            <a:ext cx="305409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tracker: paid → preparing → ready / out for delivery → completed</a:t>
            </a:r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Itemized receipt for the order</a:t>
            </a:r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email + SMS notifications were sent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4114800" cy="4114800"/>
          </a:xfrm>
          <a:prstGeom prst="ellipse">
            <a:avLst/>
          </a:prstGeom>
          <a:solidFill>
            <a:srgbClr val="1E431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46888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C67C1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0632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 operator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lane for in-store, walk-in sales.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54203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7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OPERATOR · IN-STORE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of sale — walk-in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920240" cy="3648456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4D0"/>
            </a:solidFill>
            <a:prstDash val="solid"/>
          </a:ln>
          <a:effectLst>
            <a:outerShdw sx="100000" sy="100000" kx="0" ky="0" algn="bl" rotWithShape="0" blurRad="76200" dist="25400" dir="5400000">
              <a:srgbClr val="AAB0A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1920240" cy="273634"/>
          </a:xfrm>
          <a:prstGeom prst="roundRect">
            <a:avLst>
              <a:gd name="adj" fmla="val 26734"/>
            </a:avLst>
          </a:prstGeom>
          <a:solidFill>
            <a:srgbClr val="F2F6EA"/>
          </a:solidFill>
          <a:ln/>
        </p:spPr>
      </p:sp>
      <p:sp>
        <p:nvSpPr>
          <p:cNvPr id="6" name="Shape 4"/>
          <p:cNvSpPr/>
          <p:nvPr/>
        </p:nvSpPr>
        <p:spPr>
          <a:xfrm>
            <a:off x="957377" y="1771906"/>
            <a:ext cx="652882" cy="116751"/>
          </a:xfrm>
          <a:prstGeom prst="roundRect">
            <a:avLst>
              <a:gd name="adj" fmla="val 46992"/>
            </a:avLst>
          </a:prstGeom>
          <a:solidFill>
            <a:srgbClr val="C67C1A"/>
          </a:solidFill>
          <a:ln/>
        </p:spPr>
      </p:sp>
      <p:sp>
        <p:nvSpPr>
          <p:cNvPr id="7" name="Shape 5"/>
          <p:cNvSpPr/>
          <p:nvPr/>
        </p:nvSpPr>
        <p:spPr>
          <a:xfrm>
            <a:off x="957377" y="2092970"/>
            <a:ext cx="1056132" cy="102157"/>
          </a:xfrm>
          <a:prstGeom prst="rect">
            <a:avLst/>
          </a:prstGeom>
          <a:solidFill>
            <a:srgbClr val="2C5F1E"/>
          </a:solidFill>
          <a:ln/>
        </p:spPr>
      </p:sp>
      <p:sp>
        <p:nvSpPr>
          <p:cNvPr id="8" name="Shape 6"/>
          <p:cNvSpPr/>
          <p:nvPr/>
        </p:nvSpPr>
        <p:spPr>
          <a:xfrm>
            <a:off x="957377" y="2348362"/>
            <a:ext cx="1651406" cy="401330"/>
          </a:xfrm>
          <a:prstGeom prst="roundRect">
            <a:avLst>
              <a:gd name="adj" fmla="val 13671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8027" y="2457816"/>
            <a:ext cx="825703" cy="7296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10" name="Shape 8"/>
          <p:cNvSpPr/>
          <p:nvPr/>
        </p:nvSpPr>
        <p:spPr>
          <a:xfrm>
            <a:off x="1038027" y="2585512"/>
            <a:ext cx="462394" cy="65672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11" name="Shape 9"/>
          <p:cNvSpPr/>
          <p:nvPr/>
        </p:nvSpPr>
        <p:spPr>
          <a:xfrm>
            <a:off x="957377" y="2840904"/>
            <a:ext cx="1651406" cy="401330"/>
          </a:xfrm>
          <a:prstGeom prst="roundRect">
            <a:avLst>
              <a:gd name="adj" fmla="val 13671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8027" y="2950357"/>
            <a:ext cx="825703" cy="7296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38027" y="3078053"/>
            <a:ext cx="462394" cy="65672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14" name="Shape 12"/>
          <p:cNvSpPr/>
          <p:nvPr/>
        </p:nvSpPr>
        <p:spPr>
          <a:xfrm>
            <a:off x="957377" y="3333445"/>
            <a:ext cx="1651406" cy="401330"/>
          </a:xfrm>
          <a:prstGeom prst="roundRect">
            <a:avLst>
              <a:gd name="adj" fmla="val 13671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38027" y="3442899"/>
            <a:ext cx="825703" cy="7296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8027" y="3570595"/>
            <a:ext cx="462394" cy="65672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17" name="Shape 15"/>
          <p:cNvSpPr/>
          <p:nvPr/>
        </p:nvSpPr>
        <p:spPr>
          <a:xfrm>
            <a:off x="957377" y="4829312"/>
            <a:ext cx="1651406" cy="218907"/>
          </a:xfrm>
          <a:prstGeom prst="roundRect">
            <a:avLst>
              <a:gd name="adj" fmla="val 25063"/>
            </a:avLst>
          </a:prstGeom>
          <a:solidFill>
            <a:srgbClr val="16340A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0" y="1965960"/>
            <a:ext cx="384048" cy="384048"/>
          </a:xfrm>
          <a:prstGeom prst="ellipse">
            <a:avLst/>
          </a:prstGeom>
          <a:solidFill>
            <a:srgbClr val="C67C1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06240" y="1929384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Tap-to-add product grid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06240" y="22402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Shakes, snacks, and products in a fast tile grid.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0" y="2898648"/>
            <a:ext cx="384048" cy="384048"/>
          </a:xfrm>
          <a:prstGeom prst="ellipse">
            <a:avLst/>
          </a:prstGeom>
          <a:solidFill>
            <a:srgbClr val="C67C1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2898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206240" y="286207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Walk-in customer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206240" y="3172968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name and phone for the receipt and SMS.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0" y="3831336"/>
            <a:ext cx="384048" cy="384048"/>
          </a:xfrm>
          <a:prstGeom prst="ellipse">
            <a:avLst/>
          </a:prstGeom>
          <a:solidFill>
            <a:srgbClr val="C67C1A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0" y="3831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206240" y="379476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&amp; change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206240" y="4105656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cash received; change is calculated automatically.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0" y="4764024"/>
            <a:ext cx="384048" cy="384048"/>
          </a:xfrm>
          <a:prstGeom prst="ellipse">
            <a:avLst/>
          </a:prstGeom>
          <a:solidFill>
            <a:srgbClr val="C67C1A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0" y="4764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206240" y="4727448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 &amp; print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206240" y="5038344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 the sale and prints the receipt on the spot.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4114800" cy="4114800"/>
          </a:xfrm>
          <a:prstGeom prst="ellipse">
            <a:avLst/>
          </a:prstGeom>
          <a:solidFill>
            <a:srgbClr val="1E431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46888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6A5AB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0632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&amp; super-admin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behind the counter — from sales to staff roles.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54203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5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RUN THE 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order management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4068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DDE4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103120"/>
            <a:ext cx="1234440" cy="2345436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4D0"/>
            </a:solidFill>
            <a:prstDash val="solid"/>
          </a:ln>
          <a:effectLst>
            <a:outerShdw sx="100000" sy="100000" kx="0" ky="0" algn="bl" rotWithShape="0" blurRad="76200" dist="25400" dir="5400000">
              <a:srgbClr val="AAB0A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03120"/>
            <a:ext cx="1234440" cy="175908"/>
          </a:xfrm>
          <a:prstGeom prst="roundRect">
            <a:avLst>
              <a:gd name="adj" fmla="val 41585"/>
            </a:avLst>
          </a:prstGeom>
          <a:solidFill>
            <a:srgbClr val="F2F6EA"/>
          </a:solidFill>
          <a:ln/>
        </p:spPr>
      </p:sp>
      <p:sp>
        <p:nvSpPr>
          <p:cNvPr id="7" name="Shape 5"/>
          <p:cNvSpPr/>
          <p:nvPr/>
        </p:nvSpPr>
        <p:spPr>
          <a:xfrm>
            <a:off x="982523" y="2154720"/>
            <a:ext cx="419710" cy="75054"/>
          </a:xfrm>
          <a:prstGeom prst="roundRect">
            <a:avLst>
              <a:gd name="adj" fmla="val 73099"/>
            </a:avLst>
          </a:prstGeom>
          <a:solidFill>
            <a:srgbClr val="6A5AB8"/>
          </a:solidFill>
          <a:ln/>
        </p:spPr>
      </p:sp>
      <p:sp>
        <p:nvSpPr>
          <p:cNvPr id="8" name="Shape 6"/>
          <p:cNvSpPr/>
          <p:nvPr/>
        </p:nvSpPr>
        <p:spPr>
          <a:xfrm>
            <a:off x="982523" y="2361118"/>
            <a:ext cx="678942" cy="65672"/>
          </a:xfrm>
          <a:prstGeom prst="rect">
            <a:avLst/>
          </a:prstGeom>
          <a:solidFill>
            <a:srgbClr val="2C5F1E"/>
          </a:solidFill>
          <a:ln/>
        </p:spPr>
      </p:sp>
      <p:sp>
        <p:nvSpPr>
          <p:cNvPr id="9" name="Shape 7"/>
          <p:cNvSpPr/>
          <p:nvPr/>
        </p:nvSpPr>
        <p:spPr>
          <a:xfrm>
            <a:off x="982523" y="2525298"/>
            <a:ext cx="1061618" cy="257998"/>
          </a:xfrm>
          <a:prstGeom prst="roundRect">
            <a:avLst>
              <a:gd name="adj" fmla="val 21265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4369" y="2595662"/>
            <a:ext cx="530809" cy="4690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11" name="Shape 9"/>
          <p:cNvSpPr/>
          <p:nvPr/>
        </p:nvSpPr>
        <p:spPr>
          <a:xfrm>
            <a:off x="1034369" y="2677752"/>
            <a:ext cx="297253" cy="42218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12" name="Shape 10"/>
          <p:cNvSpPr/>
          <p:nvPr/>
        </p:nvSpPr>
        <p:spPr>
          <a:xfrm>
            <a:off x="982523" y="2841932"/>
            <a:ext cx="1061618" cy="257998"/>
          </a:xfrm>
          <a:prstGeom prst="roundRect">
            <a:avLst>
              <a:gd name="adj" fmla="val 21265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4369" y="2912295"/>
            <a:ext cx="530809" cy="4690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4369" y="2994386"/>
            <a:ext cx="297253" cy="42218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15" name="Shape 13"/>
          <p:cNvSpPr/>
          <p:nvPr/>
        </p:nvSpPr>
        <p:spPr>
          <a:xfrm>
            <a:off x="982523" y="3158566"/>
            <a:ext cx="1061618" cy="257998"/>
          </a:xfrm>
          <a:prstGeom prst="roundRect">
            <a:avLst>
              <a:gd name="adj" fmla="val 21265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4369" y="3228929"/>
            <a:ext cx="530809" cy="4690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17" name="Shape 15"/>
          <p:cNvSpPr/>
          <p:nvPr/>
        </p:nvSpPr>
        <p:spPr>
          <a:xfrm>
            <a:off x="1034369" y="3311020"/>
            <a:ext cx="297253" cy="42218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18" name="Shape 16"/>
          <p:cNvSpPr/>
          <p:nvPr/>
        </p:nvSpPr>
        <p:spPr>
          <a:xfrm>
            <a:off x="982523" y="4120195"/>
            <a:ext cx="1061618" cy="140726"/>
          </a:xfrm>
          <a:prstGeom prst="roundRect">
            <a:avLst>
              <a:gd name="adj" fmla="val 38986"/>
            </a:avLst>
          </a:prstGeom>
          <a:solidFill>
            <a:srgbClr val="16340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7793" y="4319557"/>
            <a:ext cx="54864" cy="54864"/>
          </a:xfrm>
          <a:prstGeom prst="ellipse">
            <a:avLst/>
          </a:prstGeom>
          <a:solidFill>
            <a:srgbClr val="5A8F2B"/>
          </a:solidFill>
          <a:ln/>
        </p:spPr>
      </p:sp>
      <p:sp>
        <p:nvSpPr>
          <p:cNvPr id="20" name="Shape 18"/>
          <p:cNvSpPr/>
          <p:nvPr/>
        </p:nvSpPr>
        <p:spPr>
          <a:xfrm>
            <a:off x="1353198" y="4319557"/>
            <a:ext cx="54864" cy="54864"/>
          </a:xfrm>
          <a:prstGeom prst="ellipse">
            <a:avLst/>
          </a:prstGeom>
          <a:solidFill>
            <a:srgbClr val="C9D3BC"/>
          </a:solidFill>
          <a:ln/>
        </p:spPr>
      </p:sp>
      <p:sp>
        <p:nvSpPr>
          <p:cNvPr id="21" name="Shape 19"/>
          <p:cNvSpPr/>
          <p:nvPr/>
        </p:nvSpPr>
        <p:spPr>
          <a:xfrm>
            <a:off x="1618602" y="4319557"/>
            <a:ext cx="54864" cy="54864"/>
          </a:xfrm>
          <a:prstGeom prst="ellipse">
            <a:avLst/>
          </a:prstGeom>
          <a:solidFill>
            <a:srgbClr val="C9D3BC"/>
          </a:solidFill>
          <a:ln/>
        </p:spPr>
      </p:sp>
      <p:sp>
        <p:nvSpPr>
          <p:cNvPr id="22" name="Shape 20"/>
          <p:cNvSpPr/>
          <p:nvPr/>
        </p:nvSpPr>
        <p:spPr>
          <a:xfrm>
            <a:off x="1884007" y="4319557"/>
            <a:ext cx="54864" cy="54864"/>
          </a:xfrm>
          <a:prstGeom prst="ellipse">
            <a:avLst/>
          </a:prstGeom>
          <a:solidFill>
            <a:srgbClr val="C9D3BC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" y="1801368"/>
            <a:ext cx="384048" cy="384048"/>
          </a:xfrm>
          <a:prstGeom prst="ellipse">
            <a:avLst/>
          </a:prstGeom>
          <a:solidFill>
            <a:srgbClr val="6A5AB8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542032" y="1984248"/>
            <a:ext cx="3282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2542032" y="2514600"/>
            <a:ext cx="328269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— sales, order count, preparing, low stock</a:t>
            </a:r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chart and section navigation</a:t>
            </a:r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to orders, menu, products, users, POS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55080" y="1600200"/>
            <a:ext cx="521208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DDE4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11112" y="2103120"/>
            <a:ext cx="1234440" cy="2345436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4D0"/>
            </a:solidFill>
            <a:prstDash val="solid"/>
          </a:ln>
          <a:effectLst>
            <a:outerShdw sx="100000" sy="100000" kx="0" ky="0" algn="bl" rotWithShape="0" blurRad="76200" dist="25400" dir="5400000">
              <a:srgbClr val="AAB0A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11112" y="2103120"/>
            <a:ext cx="1234440" cy="175908"/>
          </a:xfrm>
          <a:prstGeom prst="roundRect">
            <a:avLst>
              <a:gd name="adj" fmla="val 41585"/>
            </a:avLst>
          </a:prstGeom>
          <a:solidFill>
            <a:srgbClr val="F2F6EA"/>
          </a:solidFill>
          <a:ln/>
        </p:spPr>
      </p:sp>
      <p:sp>
        <p:nvSpPr>
          <p:cNvPr id="30" name="Shape 28"/>
          <p:cNvSpPr/>
          <p:nvPr/>
        </p:nvSpPr>
        <p:spPr>
          <a:xfrm>
            <a:off x="6697523" y="2154720"/>
            <a:ext cx="419710" cy="75054"/>
          </a:xfrm>
          <a:prstGeom prst="roundRect">
            <a:avLst>
              <a:gd name="adj" fmla="val 73099"/>
            </a:avLst>
          </a:prstGeom>
          <a:solidFill>
            <a:srgbClr val="6A5AB8"/>
          </a:solidFill>
          <a:ln/>
        </p:spPr>
      </p:sp>
      <p:sp>
        <p:nvSpPr>
          <p:cNvPr id="31" name="Shape 29"/>
          <p:cNvSpPr/>
          <p:nvPr/>
        </p:nvSpPr>
        <p:spPr>
          <a:xfrm>
            <a:off x="6697523" y="2361118"/>
            <a:ext cx="678942" cy="65672"/>
          </a:xfrm>
          <a:prstGeom prst="rect">
            <a:avLst/>
          </a:prstGeom>
          <a:solidFill>
            <a:srgbClr val="2C5F1E"/>
          </a:solidFill>
          <a:ln/>
        </p:spPr>
      </p:sp>
      <p:sp>
        <p:nvSpPr>
          <p:cNvPr id="32" name="Shape 30"/>
          <p:cNvSpPr/>
          <p:nvPr/>
        </p:nvSpPr>
        <p:spPr>
          <a:xfrm>
            <a:off x="6697523" y="2525298"/>
            <a:ext cx="1061618" cy="257998"/>
          </a:xfrm>
          <a:prstGeom prst="roundRect">
            <a:avLst>
              <a:gd name="adj" fmla="val 21265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49369" y="2595662"/>
            <a:ext cx="530809" cy="4690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34" name="Shape 32"/>
          <p:cNvSpPr/>
          <p:nvPr/>
        </p:nvSpPr>
        <p:spPr>
          <a:xfrm>
            <a:off x="6749369" y="2677752"/>
            <a:ext cx="297253" cy="42218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35" name="Shape 33"/>
          <p:cNvSpPr/>
          <p:nvPr/>
        </p:nvSpPr>
        <p:spPr>
          <a:xfrm>
            <a:off x="6697523" y="2841932"/>
            <a:ext cx="1061618" cy="257998"/>
          </a:xfrm>
          <a:prstGeom prst="roundRect">
            <a:avLst>
              <a:gd name="adj" fmla="val 21265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49369" y="2912295"/>
            <a:ext cx="530809" cy="4690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37" name="Shape 35"/>
          <p:cNvSpPr/>
          <p:nvPr/>
        </p:nvSpPr>
        <p:spPr>
          <a:xfrm>
            <a:off x="6749369" y="2994386"/>
            <a:ext cx="297253" cy="42218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38" name="Shape 36"/>
          <p:cNvSpPr/>
          <p:nvPr/>
        </p:nvSpPr>
        <p:spPr>
          <a:xfrm>
            <a:off x="6697523" y="3158566"/>
            <a:ext cx="1061618" cy="257998"/>
          </a:xfrm>
          <a:prstGeom prst="roundRect">
            <a:avLst>
              <a:gd name="adj" fmla="val 21265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49369" y="3228929"/>
            <a:ext cx="530809" cy="4690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40" name="Shape 38"/>
          <p:cNvSpPr/>
          <p:nvPr/>
        </p:nvSpPr>
        <p:spPr>
          <a:xfrm>
            <a:off x="6749369" y="3311020"/>
            <a:ext cx="297253" cy="42218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41" name="Shape 39"/>
          <p:cNvSpPr/>
          <p:nvPr/>
        </p:nvSpPr>
        <p:spPr>
          <a:xfrm>
            <a:off x="6697523" y="4120195"/>
            <a:ext cx="1061618" cy="140726"/>
          </a:xfrm>
          <a:prstGeom prst="roundRect">
            <a:avLst>
              <a:gd name="adj" fmla="val 38986"/>
            </a:avLst>
          </a:prstGeom>
          <a:solidFill>
            <a:srgbClr val="16340A"/>
          </a:solidFill>
          <a:ln/>
        </p:spPr>
      </p:sp>
      <p:sp>
        <p:nvSpPr>
          <p:cNvPr id="42" name="Shape 40"/>
          <p:cNvSpPr/>
          <p:nvPr/>
        </p:nvSpPr>
        <p:spPr>
          <a:xfrm>
            <a:off x="6802793" y="4319557"/>
            <a:ext cx="54864" cy="54864"/>
          </a:xfrm>
          <a:prstGeom prst="ellipse">
            <a:avLst/>
          </a:prstGeom>
          <a:solidFill>
            <a:srgbClr val="C9D3BC"/>
          </a:solidFill>
          <a:ln/>
        </p:spPr>
      </p:sp>
      <p:sp>
        <p:nvSpPr>
          <p:cNvPr id="43" name="Shape 41"/>
          <p:cNvSpPr/>
          <p:nvPr/>
        </p:nvSpPr>
        <p:spPr>
          <a:xfrm>
            <a:off x="7068198" y="4319557"/>
            <a:ext cx="54864" cy="54864"/>
          </a:xfrm>
          <a:prstGeom prst="ellipse">
            <a:avLst/>
          </a:prstGeom>
          <a:solidFill>
            <a:srgbClr val="5A8F2B"/>
          </a:solidFill>
          <a:ln/>
        </p:spPr>
      </p:sp>
      <p:sp>
        <p:nvSpPr>
          <p:cNvPr id="44" name="Shape 42"/>
          <p:cNvSpPr/>
          <p:nvPr/>
        </p:nvSpPr>
        <p:spPr>
          <a:xfrm>
            <a:off x="7333602" y="4319557"/>
            <a:ext cx="54864" cy="54864"/>
          </a:xfrm>
          <a:prstGeom prst="ellipse">
            <a:avLst/>
          </a:prstGeom>
          <a:solidFill>
            <a:srgbClr val="C9D3BC"/>
          </a:solidFill>
          <a:ln/>
        </p:spPr>
      </p:sp>
      <p:sp>
        <p:nvSpPr>
          <p:cNvPr id="45" name="Shape 43"/>
          <p:cNvSpPr/>
          <p:nvPr/>
        </p:nvSpPr>
        <p:spPr>
          <a:xfrm>
            <a:off x="7599007" y="4319557"/>
            <a:ext cx="54864" cy="54864"/>
          </a:xfrm>
          <a:prstGeom prst="ellipse">
            <a:avLst/>
          </a:prstGeom>
          <a:solidFill>
            <a:srgbClr val="C9D3BC"/>
          </a:solidFill>
          <a:ln/>
        </p:spPr>
      </p:sp>
      <p:sp>
        <p:nvSpPr>
          <p:cNvPr id="46" name="Shape 44"/>
          <p:cNvSpPr/>
          <p:nvPr/>
        </p:nvSpPr>
        <p:spPr>
          <a:xfrm>
            <a:off x="6611112" y="1801368"/>
            <a:ext cx="384048" cy="384048"/>
          </a:xfrm>
          <a:prstGeom prst="ellipse">
            <a:avLst/>
          </a:prstGeom>
          <a:solidFill>
            <a:srgbClr val="6A5AB8"/>
          </a:solidFill>
          <a:ln/>
        </p:spPr>
      </p:sp>
      <p:sp>
        <p:nvSpPr>
          <p:cNvPr id="47" name="Text 45"/>
          <p:cNvSpPr/>
          <p:nvPr/>
        </p:nvSpPr>
        <p:spPr>
          <a:xfrm>
            <a:off x="6611112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257032" y="1984248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8257032" y="2514600"/>
            <a:ext cx="305409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orders by status</a:t>
            </a:r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status inline through the order lifecycle</a:t>
            </a:r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customer, fulfillment, and totals per order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5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CATALOG &amp; PEOPLE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Menu, products &amp; user roles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4068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DDE4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103120"/>
            <a:ext cx="1234440" cy="2345436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4D0"/>
            </a:solidFill>
            <a:prstDash val="solid"/>
          </a:ln>
          <a:effectLst>
            <a:outerShdw sx="100000" sy="100000" kx="0" ky="0" algn="bl" rotWithShape="0" blurRad="76200" dist="25400" dir="5400000">
              <a:srgbClr val="AAB0A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03120"/>
            <a:ext cx="1234440" cy="175908"/>
          </a:xfrm>
          <a:prstGeom prst="roundRect">
            <a:avLst>
              <a:gd name="adj" fmla="val 41585"/>
            </a:avLst>
          </a:prstGeom>
          <a:solidFill>
            <a:srgbClr val="F2F6EA"/>
          </a:solidFill>
          <a:ln/>
        </p:spPr>
      </p:sp>
      <p:sp>
        <p:nvSpPr>
          <p:cNvPr id="7" name="Shape 5"/>
          <p:cNvSpPr/>
          <p:nvPr/>
        </p:nvSpPr>
        <p:spPr>
          <a:xfrm>
            <a:off x="982523" y="2154720"/>
            <a:ext cx="419710" cy="75054"/>
          </a:xfrm>
          <a:prstGeom prst="roundRect">
            <a:avLst>
              <a:gd name="adj" fmla="val 73099"/>
            </a:avLst>
          </a:prstGeom>
          <a:solidFill>
            <a:srgbClr val="6A5AB8"/>
          </a:solidFill>
          <a:ln/>
        </p:spPr>
      </p:sp>
      <p:sp>
        <p:nvSpPr>
          <p:cNvPr id="8" name="Shape 6"/>
          <p:cNvSpPr/>
          <p:nvPr/>
        </p:nvSpPr>
        <p:spPr>
          <a:xfrm>
            <a:off x="982523" y="2361118"/>
            <a:ext cx="678942" cy="65672"/>
          </a:xfrm>
          <a:prstGeom prst="rect">
            <a:avLst/>
          </a:prstGeom>
          <a:solidFill>
            <a:srgbClr val="2C5F1E"/>
          </a:solidFill>
          <a:ln/>
        </p:spPr>
      </p:sp>
      <p:sp>
        <p:nvSpPr>
          <p:cNvPr id="9" name="Shape 7"/>
          <p:cNvSpPr/>
          <p:nvPr/>
        </p:nvSpPr>
        <p:spPr>
          <a:xfrm>
            <a:off x="982523" y="2525298"/>
            <a:ext cx="1061618" cy="257998"/>
          </a:xfrm>
          <a:prstGeom prst="roundRect">
            <a:avLst>
              <a:gd name="adj" fmla="val 21265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4369" y="2595662"/>
            <a:ext cx="530809" cy="4690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11" name="Shape 9"/>
          <p:cNvSpPr/>
          <p:nvPr/>
        </p:nvSpPr>
        <p:spPr>
          <a:xfrm>
            <a:off x="1034369" y="2677752"/>
            <a:ext cx="297253" cy="42218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12" name="Shape 10"/>
          <p:cNvSpPr/>
          <p:nvPr/>
        </p:nvSpPr>
        <p:spPr>
          <a:xfrm>
            <a:off x="982523" y="2841932"/>
            <a:ext cx="1061618" cy="257998"/>
          </a:xfrm>
          <a:prstGeom prst="roundRect">
            <a:avLst>
              <a:gd name="adj" fmla="val 21265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4369" y="2912295"/>
            <a:ext cx="530809" cy="4690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4369" y="2994386"/>
            <a:ext cx="297253" cy="42218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15" name="Shape 13"/>
          <p:cNvSpPr/>
          <p:nvPr/>
        </p:nvSpPr>
        <p:spPr>
          <a:xfrm>
            <a:off x="982523" y="3158566"/>
            <a:ext cx="1061618" cy="257998"/>
          </a:xfrm>
          <a:prstGeom prst="roundRect">
            <a:avLst>
              <a:gd name="adj" fmla="val 21265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4369" y="3228929"/>
            <a:ext cx="530809" cy="4690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17" name="Shape 15"/>
          <p:cNvSpPr/>
          <p:nvPr/>
        </p:nvSpPr>
        <p:spPr>
          <a:xfrm>
            <a:off x="1034369" y="3311020"/>
            <a:ext cx="297253" cy="42218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18" name="Shape 16"/>
          <p:cNvSpPr/>
          <p:nvPr/>
        </p:nvSpPr>
        <p:spPr>
          <a:xfrm>
            <a:off x="982523" y="4120195"/>
            <a:ext cx="1061618" cy="140726"/>
          </a:xfrm>
          <a:prstGeom prst="roundRect">
            <a:avLst>
              <a:gd name="adj" fmla="val 38986"/>
            </a:avLst>
          </a:prstGeom>
          <a:solidFill>
            <a:srgbClr val="16340A"/>
          </a:solidFill>
          <a:ln/>
        </p:spPr>
      </p:sp>
      <p:sp>
        <p:nvSpPr>
          <p:cNvPr id="19" name="Shape 17"/>
          <p:cNvSpPr/>
          <p:nvPr/>
        </p:nvSpPr>
        <p:spPr>
          <a:xfrm>
            <a:off x="896112" y="1801368"/>
            <a:ext cx="384048" cy="384048"/>
          </a:xfrm>
          <a:prstGeom prst="ellipse">
            <a:avLst/>
          </a:prstGeom>
          <a:solidFill>
            <a:srgbClr val="6A5AB8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542032" y="1984248"/>
            <a:ext cx="3282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 &amp; products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542032" y="2514600"/>
            <a:ext cx="328269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edit menu items and products</a:t>
            </a:r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stock; toggle availability and pre-order</a:t>
            </a:r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calories, benefits, price, and image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55080" y="1600200"/>
            <a:ext cx="521208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DDE4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11112" y="2103120"/>
            <a:ext cx="1234440" cy="2345436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4D0"/>
            </a:solidFill>
            <a:prstDash val="solid"/>
          </a:ln>
          <a:effectLst>
            <a:outerShdw sx="100000" sy="100000" kx="0" ky="0" algn="bl" rotWithShape="0" blurRad="76200" dist="25400" dir="5400000">
              <a:srgbClr val="AAB0A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11112" y="2103120"/>
            <a:ext cx="1234440" cy="175908"/>
          </a:xfrm>
          <a:prstGeom prst="roundRect">
            <a:avLst>
              <a:gd name="adj" fmla="val 41585"/>
            </a:avLst>
          </a:prstGeom>
          <a:solidFill>
            <a:srgbClr val="F2F6EA"/>
          </a:solidFill>
          <a:ln/>
        </p:spPr>
      </p:sp>
      <p:sp>
        <p:nvSpPr>
          <p:cNvPr id="26" name="Shape 24"/>
          <p:cNvSpPr/>
          <p:nvPr/>
        </p:nvSpPr>
        <p:spPr>
          <a:xfrm>
            <a:off x="6697523" y="2154720"/>
            <a:ext cx="419710" cy="75054"/>
          </a:xfrm>
          <a:prstGeom prst="roundRect">
            <a:avLst>
              <a:gd name="adj" fmla="val 73099"/>
            </a:avLst>
          </a:prstGeom>
          <a:solidFill>
            <a:srgbClr val="6A5AB8"/>
          </a:solidFill>
          <a:ln/>
        </p:spPr>
      </p:sp>
      <p:sp>
        <p:nvSpPr>
          <p:cNvPr id="27" name="Shape 25"/>
          <p:cNvSpPr/>
          <p:nvPr/>
        </p:nvSpPr>
        <p:spPr>
          <a:xfrm>
            <a:off x="6697523" y="2361118"/>
            <a:ext cx="678942" cy="65672"/>
          </a:xfrm>
          <a:prstGeom prst="rect">
            <a:avLst/>
          </a:prstGeom>
          <a:solidFill>
            <a:srgbClr val="2C5F1E"/>
          </a:solidFill>
          <a:ln/>
        </p:spPr>
      </p:sp>
      <p:sp>
        <p:nvSpPr>
          <p:cNvPr id="28" name="Shape 26"/>
          <p:cNvSpPr/>
          <p:nvPr/>
        </p:nvSpPr>
        <p:spPr>
          <a:xfrm>
            <a:off x="6697523" y="2525298"/>
            <a:ext cx="1061618" cy="257998"/>
          </a:xfrm>
          <a:prstGeom prst="roundRect">
            <a:avLst>
              <a:gd name="adj" fmla="val 21265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49369" y="2595662"/>
            <a:ext cx="530809" cy="4690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30" name="Shape 28"/>
          <p:cNvSpPr/>
          <p:nvPr/>
        </p:nvSpPr>
        <p:spPr>
          <a:xfrm>
            <a:off x="6749369" y="2677752"/>
            <a:ext cx="297253" cy="42218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31" name="Shape 29"/>
          <p:cNvSpPr/>
          <p:nvPr/>
        </p:nvSpPr>
        <p:spPr>
          <a:xfrm>
            <a:off x="6697523" y="2841932"/>
            <a:ext cx="1061618" cy="257998"/>
          </a:xfrm>
          <a:prstGeom prst="roundRect">
            <a:avLst>
              <a:gd name="adj" fmla="val 21265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49369" y="2912295"/>
            <a:ext cx="530809" cy="4690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33" name="Shape 31"/>
          <p:cNvSpPr/>
          <p:nvPr/>
        </p:nvSpPr>
        <p:spPr>
          <a:xfrm>
            <a:off x="6749369" y="2994386"/>
            <a:ext cx="297253" cy="42218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34" name="Shape 32"/>
          <p:cNvSpPr/>
          <p:nvPr/>
        </p:nvSpPr>
        <p:spPr>
          <a:xfrm>
            <a:off x="6697523" y="3158566"/>
            <a:ext cx="1061618" cy="257998"/>
          </a:xfrm>
          <a:prstGeom prst="roundRect">
            <a:avLst>
              <a:gd name="adj" fmla="val 21265"/>
            </a:avLst>
          </a:prstGeom>
          <a:solidFill>
            <a:srgbClr val="F2F6EA"/>
          </a:solidFill>
          <a:ln w="9525">
            <a:solidFill>
              <a:srgbClr val="DDE4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49369" y="3228929"/>
            <a:ext cx="530809" cy="46909"/>
          </a:xfrm>
          <a:prstGeom prst="rect">
            <a:avLst/>
          </a:prstGeom>
          <a:solidFill>
            <a:srgbClr val="C9D3BC"/>
          </a:solidFill>
          <a:ln/>
        </p:spPr>
      </p:sp>
      <p:sp>
        <p:nvSpPr>
          <p:cNvPr id="36" name="Shape 34"/>
          <p:cNvSpPr/>
          <p:nvPr/>
        </p:nvSpPr>
        <p:spPr>
          <a:xfrm>
            <a:off x="6749369" y="3311020"/>
            <a:ext cx="297253" cy="42218"/>
          </a:xfrm>
          <a:prstGeom prst="rect">
            <a:avLst/>
          </a:prstGeom>
          <a:solidFill>
            <a:srgbClr val="DCE4D2"/>
          </a:solidFill>
          <a:ln/>
        </p:spPr>
      </p:sp>
      <p:sp>
        <p:nvSpPr>
          <p:cNvPr id="37" name="Shape 35"/>
          <p:cNvSpPr/>
          <p:nvPr/>
        </p:nvSpPr>
        <p:spPr>
          <a:xfrm>
            <a:off x="6697523" y="4120195"/>
            <a:ext cx="1061618" cy="140726"/>
          </a:xfrm>
          <a:prstGeom prst="roundRect">
            <a:avLst>
              <a:gd name="adj" fmla="val 38986"/>
            </a:avLst>
          </a:prstGeom>
          <a:solidFill>
            <a:srgbClr val="16340A"/>
          </a:solidFill>
          <a:ln/>
        </p:spPr>
      </p:sp>
      <p:sp>
        <p:nvSpPr>
          <p:cNvPr id="38" name="Shape 36"/>
          <p:cNvSpPr/>
          <p:nvPr/>
        </p:nvSpPr>
        <p:spPr>
          <a:xfrm>
            <a:off x="6802793" y="4319557"/>
            <a:ext cx="54864" cy="54864"/>
          </a:xfrm>
          <a:prstGeom prst="ellipse">
            <a:avLst/>
          </a:prstGeom>
          <a:solidFill>
            <a:srgbClr val="C9D3BC"/>
          </a:solidFill>
          <a:ln/>
        </p:spPr>
      </p:sp>
      <p:sp>
        <p:nvSpPr>
          <p:cNvPr id="39" name="Shape 37"/>
          <p:cNvSpPr/>
          <p:nvPr/>
        </p:nvSpPr>
        <p:spPr>
          <a:xfrm>
            <a:off x="7068198" y="4319557"/>
            <a:ext cx="54864" cy="54864"/>
          </a:xfrm>
          <a:prstGeom prst="ellipse">
            <a:avLst/>
          </a:prstGeom>
          <a:solidFill>
            <a:srgbClr val="C9D3BC"/>
          </a:solidFill>
          <a:ln/>
        </p:spPr>
      </p:sp>
      <p:sp>
        <p:nvSpPr>
          <p:cNvPr id="40" name="Shape 38"/>
          <p:cNvSpPr/>
          <p:nvPr/>
        </p:nvSpPr>
        <p:spPr>
          <a:xfrm>
            <a:off x="7333602" y="4319557"/>
            <a:ext cx="54864" cy="54864"/>
          </a:xfrm>
          <a:prstGeom prst="ellipse">
            <a:avLst/>
          </a:prstGeom>
          <a:solidFill>
            <a:srgbClr val="C9D3BC"/>
          </a:solidFill>
          <a:ln/>
        </p:spPr>
      </p:sp>
      <p:sp>
        <p:nvSpPr>
          <p:cNvPr id="41" name="Shape 39"/>
          <p:cNvSpPr/>
          <p:nvPr/>
        </p:nvSpPr>
        <p:spPr>
          <a:xfrm>
            <a:off x="7599007" y="4319557"/>
            <a:ext cx="54864" cy="54864"/>
          </a:xfrm>
          <a:prstGeom prst="ellipse">
            <a:avLst/>
          </a:prstGeom>
          <a:solidFill>
            <a:srgbClr val="5A8F2B"/>
          </a:solidFill>
          <a:ln/>
        </p:spPr>
      </p:sp>
      <p:sp>
        <p:nvSpPr>
          <p:cNvPr id="42" name="Shape 40"/>
          <p:cNvSpPr/>
          <p:nvPr/>
        </p:nvSpPr>
        <p:spPr>
          <a:xfrm>
            <a:off x="6611112" y="1801368"/>
            <a:ext cx="384048" cy="384048"/>
          </a:xfrm>
          <a:prstGeom prst="ellipse">
            <a:avLst/>
          </a:prstGeom>
          <a:solidFill>
            <a:srgbClr val="6A5AB8"/>
          </a:solidFill>
          <a:ln/>
        </p:spPr>
      </p:sp>
      <p:sp>
        <p:nvSpPr>
          <p:cNvPr id="43" name="Text 41"/>
          <p:cNvSpPr/>
          <p:nvPr/>
        </p:nvSpPr>
        <p:spPr>
          <a:xfrm>
            <a:off x="6611112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257032" y="1984248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&amp; roles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8257032" y="2514600"/>
            <a:ext cx="305409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Super-admin only</a:t>
            </a:r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or demote: customer ↔ pos-operator ↔ admin</a:t>
            </a:r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manage the whole user list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5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UNDERNEATH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order lifecycle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1627632" cy="1051560"/>
          </a:xfrm>
          <a:prstGeom prst="roundRect">
            <a:avLst>
              <a:gd name="adj" fmla="val 8696"/>
            </a:avLst>
          </a:prstGeom>
          <a:solidFill>
            <a:srgbClr val="5A8F2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286000"/>
            <a:ext cx="1627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31720" y="2688336"/>
            <a:ext cx="182880" cy="256032"/>
          </a:xfrm>
          <a:prstGeom prst="rightTriangle">
            <a:avLst/>
          </a:prstGeom>
          <a:solidFill>
            <a:srgbClr val="6B7562"/>
          </a:solidFill>
          <a:ln/>
        </p:spPr>
      </p:sp>
      <p:sp>
        <p:nvSpPr>
          <p:cNvPr id="7" name="Shape 5"/>
          <p:cNvSpPr/>
          <p:nvPr/>
        </p:nvSpPr>
        <p:spPr>
          <a:xfrm>
            <a:off x="2542032" y="2286000"/>
            <a:ext cx="1627632" cy="1051560"/>
          </a:xfrm>
          <a:prstGeom prst="roundRect">
            <a:avLst>
              <a:gd name="adj" fmla="val 8696"/>
            </a:avLst>
          </a:prstGeom>
          <a:solidFill>
            <a:srgbClr val="5A8F2B"/>
          </a:solidFill>
          <a:ln/>
        </p:spPr>
      </p:sp>
      <p:sp>
        <p:nvSpPr>
          <p:cNvPr id="8" name="Text 6"/>
          <p:cNvSpPr/>
          <p:nvPr/>
        </p:nvSpPr>
        <p:spPr>
          <a:xfrm>
            <a:off x="2542032" y="2286000"/>
            <a:ext cx="1627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87952" y="2688336"/>
            <a:ext cx="182880" cy="256032"/>
          </a:xfrm>
          <a:prstGeom prst="rightTriangle">
            <a:avLst/>
          </a:prstGeom>
          <a:solidFill>
            <a:srgbClr val="6B7562"/>
          </a:solidFill>
          <a:ln/>
        </p:spPr>
      </p:sp>
      <p:sp>
        <p:nvSpPr>
          <p:cNvPr id="10" name="Shape 8"/>
          <p:cNvSpPr/>
          <p:nvPr/>
        </p:nvSpPr>
        <p:spPr>
          <a:xfrm>
            <a:off x="4398264" y="2286000"/>
            <a:ext cx="1627632" cy="1051560"/>
          </a:xfrm>
          <a:prstGeom prst="roundRect">
            <a:avLst>
              <a:gd name="adj" fmla="val 8696"/>
            </a:avLst>
          </a:prstGeom>
          <a:solidFill>
            <a:srgbClr val="2C5F1E"/>
          </a:solidFill>
          <a:ln/>
        </p:spPr>
      </p:sp>
      <p:sp>
        <p:nvSpPr>
          <p:cNvPr id="11" name="Text 9"/>
          <p:cNvSpPr/>
          <p:nvPr/>
        </p:nvSpPr>
        <p:spPr>
          <a:xfrm>
            <a:off x="4398264" y="2286000"/>
            <a:ext cx="1627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44184" y="2688336"/>
            <a:ext cx="182880" cy="256032"/>
          </a:xfrm>
          <a:prstGeom prst="rightTriangle">
            <a:avLst/>
          </a:prstGeom>
          <a:solidFill>
            <a:srgbClr val="6B7562"/>
          </a:solidFill>
          <a:ln/>
        </p:spPr>
      </p:sp>
      <p:sp>
        <p:nvSpPr>
          <p:cNvPr id="13" name="Shape 11"/>
          <p:cNvSpPr/>
          <p:nvPr/>
        </p:nvSpPr>
        <p:spPr>
          <a:xfrm>
            <a:off x="6254496" y="2286000"/>
            <a:ext cx="1627632" cy="1051560"/>
          </a:xfrm>
          <a:prstGeom prst="roundRect">
            <a:avLst>
              <a:gd name="adj" fmla="val 8696"/>
            </a:avLst>
          </a:prstGeom>
          <a:solidFill>
            <a:srgbClr val="D8582F"/>
          </a:solidFill>
          <a:ln/>
        </p:spPr>
      </p:sp>
      <p:sp>
        <p:nvSpPr>
          <p:cNvPr id="14" name="Text 12"/>
          <p:cNvSpPr/>
          <p:nvPr/>
        </p:nvSpPr>
        <p:spPr>
          <a:xfrm>
            <a:off x="6254496" y="2286000"/>
            <a:ext cx="1627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00416" y="2688336"/>
            <a:ext cx="182880" cy="256032"/>
          </a:xfrm>
          <a:prstGeom prst="rightTriangle">
            <a:avLst/>
          </a:prstGeom>
          <a:solidFill>
            <a:srgbClr val="6B7562"/>
          </a:solidFill>
          <a:ln/>
        </p:spPr>
      </p:sp>
      <p:sp>
        <p:nvSpPr>
          <p:cNvPr id="16" name="Shape 14"/>
          <p:cNvSpPr/>
          <p:nvPr/>
        </p:nvSpPr>
        <p:spPr>
          <a:xfrm>
            <a:off x="8110728" y="2286000"/>
            <a:ext cx="1627632" cy="1051560"/>
          </a:xfrm>
          <a:prstGeom prst="roundRect">
            <a:avLst>
              <a:gd name="adj" fmla="val 8696"/>
            </a:avLst>
          </a:prstGeom>
          <a:solidFill>
            <a:srgbClr val="2C5F1E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28" y="2286000"/>
            <a:ext cx="1627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/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for delivery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756648" y="2688336"/>
            <a:ext cx="182880" cy="256032"/>
          </a:xfrm>
          <a:prstGeom prst="rightTriangle">
            <a:avLst/>
          </a:prstGeom>
          <a:solidFill>
            <a:srgbClr val="6B7562"/>
          </a:solidFill>
          <a:ln/>
        </p:spPr>
      </p:sp>
      <p:sp>
        <p:nvSpPr>
          <p:cNvPr id="19" name="Shape 17"/>
          <p:cNvSpPr/>
          <p:nvPr/>
        </p:nvSpPr>
        <p:spPr>
          <a:xfrm>
            <a:off x="9966960" y="2286000"/>
            <a:ext cx="1627632" cy="1051560"/>
          </a:xfrm>
          <a:prstGeom prst="roundRect">
            <a:avLst>
              <a:gd name="adj" fmla="val 8696"/>
            </a:avLst>
          </a:prstGeom>
          <a:solidFill>
            <a:srgbClr val="16340A"/>
          </a:solidFill>
          <a:ln/>
        </p:spPr>
      </p:sp>
      <p:sp>
        <p:nvSpPr>
          <p:cNvPr id="20" name="Text 18"/>
          <p:cNvSpPr/>
          <p:nvPr/>
        </p:nvSpPr>
        <p:spPr>
          <a:xfrm>
            <a:off x="9966960" y="2286000"/>
            <a:ext cx="1627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840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exits at any point:  </a:t>
            </a:r>
            <a:pPr indent="0" marL="0">
              <a:buNone/>
            </a:pPr>
            <a:r>
              <a:rPr lang="en-US" sz="1500" b="1" dirty="0">
                <a:solidFill>
                  <a:srgbClr val="D85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pPr indent="0" marL="0">
              <a:buNone/>
            </a:pPr>
            <a:r>
              <a:rPr lang="en-US" sz="150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 </a:t>
            </a:r>
            <a:pPr indent="0" marL="0">
              <a:buNone/>
            </a:pPr>
            <a:r>
              <a:rPr lang="en-US" sz="1500" b="1" dirty="0">
                <a:solidFill>
                  <a:srgbClr val="D85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Refunded</a:t>
            </a:r>
            <a:pPr indent="0" marL="0">
              <a:buNone/>
            </a:pPr>
            <a:r>
              <a:rPr lang="en-US" sz="150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 Status changes fire email + SMS to the customer and update their live tracker.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5800" y="46177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2F6EA"/>
          </a:solidFill>
          <a:ln w="12700">
            <a:solidFill>
              <a:srgbClr val="DDE4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800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moves it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52120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place and pay; PayMongo's webhook marks orders paid; admins advance status from the orders screen.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72200" y="46177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2F6EA"/>
          </a:solidFill>
          <a:ln w="12700">
            <a:solidFill>
              <a:srgbClr val="DDE4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4800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pay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46520" y="52120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via PayMongo checkout, or in cash at the hub — including POS walk-in sales with change calculation.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5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WIREFRAME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built vs. what's proposed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DE4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 the codebase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2C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&amp; shop browsing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2C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fulfillment &amp; payment choice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2C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+ status tracking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2C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walk-in workspace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2C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dashboard, orders, catalog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2C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 management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2C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Auth0 social login &amp; role guards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2C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PayMongo checkout + webhook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2C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SMS on order paid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DE4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8745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5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Shown as intended (TODO)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3774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○"/>
            </a:pPr>
            <a:r>
              <a:rPr lang="en-US" sz="1350" dirty="0">
                <a:solidFill>
                  <a:srgbClr val="5A4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sign-in screen &amp; first-login phone capture</a:t>
            </a:r>
            <a:endParaRPr lang="en-US" sz="1350" dirty="0"/>
          </a:p>
          <a:p>
            <a:pPr marL="190500" indent="-190500">
              <a:spcAft>
                <a:spcPts val="1000"/>
              </a:spcAft>
              <a:buSzPct val="100000"/>
              <a:buChar char="○"/>
            </a:pPr>
            <a:r>
              <a:rPr lang="en-US" sz="1350" dirty="0">
                <a:solidFill>
                  <a:srgbClr val="5A4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for menu items and products</a:t>
            </a:r>
            <a:endParaRPr lang="en-US" sz="1350" dirty="0"/>
          </a:p>
          <a:p>
            <a:pPr marL="190500" indent="-190500">
              <a:spcAft>
                <a:spcPts val="1000"/>
              </a:spcAft>
              <a:buSzPct val="100000"/>
              <a:buChar char="○"/>
            </a:pPr>
            <a:r>
              <a:rPr lang="en-US" sz="1350" dirty="0">
                <a:solidFill>
                  <a:srgbClr val="5A4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analytics charts</a:t>
            </a:r>
            <a:endParaRPr lang="en-US" sz="1350" dirty="0"/>
          </a:p>
          <a:p>
            <a:pPr marL="190500" indent="-190500">
              <a:spcAft>
                <a:spcPts val="1000"/>
              </a:spcAft>
              <a:buSzPct val="100000"/>
              <a:buChar char="○"/>
            </a:pPr>
            <a:r>
              <a:rPr lang="en-US" sz="1350" dirty="0">
                <a:solidFill>
                  <a:srgbClr val="5A4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PayMongo webhook signature verification</a:t>
            </a:r>
            <a:endParaRPr lang="en-US" sz="1350" dirty="0"/>
          </a:p>
          <a:p>
            <a:pPr marL="190500" indent="-190500">
              <a:spcAft>
                <a:spcPts val="1000"/>
              </a:spcAft>
              <a:buSzPct val="100000"/>
              <a:buChar char="○"/>
            </a:pPr>
            <a:r>
              <a:rPr lang="en-US" sz="1350" dirty="0">
                <a:solidFill>
                  <a:srgbClr val="5A4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migrations, hardened CORS &amp; rate limits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3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486400" cy="5486400"/>
          </a:xfrm>
          <a:prstGeom prst="ellipse">
            <a:avLst/>
          </a:prstGeom>
          <a:solidFill>
            <a:srgbClr val="1E431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screens.  3 roles.  One nutrition storefront.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first shake to the printed receipt — Sip n Bite, end to end.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n Bite Nutrition  ·  mobile app wireframe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2026-07-04T03:53:17Z</dcterms:created>
  <dcterms:modified xsi:type="dcterms:W3CDTF">2026-07-04T03:53:17Z</dcterms:modified>
</cp:coreProperties>
</file>